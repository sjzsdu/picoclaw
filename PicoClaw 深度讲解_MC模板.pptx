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5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Master" Target="slideMasters/slideMaster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r>
              <a:t>开场先建立问题：为什么不是写一个 bot 脚本就够。低资源环境下，工程边界比功能数量更关键。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开场不要先讲模块。先强调反差：Agent 通常意味着云端、GPU、复杂依赖；PicoClaw 的目标是在低资源环境仍然保留平台能力。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告诉同事：今天不是源码逐行读，而是先建立 mental model。后面再给源码阅读路径。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这里讲因果，不讲 Makefile。强调 Go 是由部署约束推出来的，不是个人偏好。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不要把平台讲成“大而全”。平台的关键是边界：新增渠道、新增模型、新增工具时，核心链路不应该被撕开。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重点：三种入口共享同一套 runtime，这保证了能力一致，也便于部署裁剪。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这页给大图，不要展开每个词。强调后面会沿主链路进入每一层。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 happy path。所有高级机制都是在这个路径上增加治理点，而不是另起炉灶。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Gateway 的好处是装配，而不是集中复杂度。这样子系统能独立测试、替换、裁剪。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这页是平台化的关键例子。新增 Channel 不应该修改 Agent；新增 Agent 也不应该理解每个平台的消息细节。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AgentLoop 讲成运行时引擎：不是一段 for-loop，而是所有治理机制汇聚的位置。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Turn 是最小闭环：输入、上下文、模型、工具、最终回答和记忆更新，都在这里被治理。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Telegram 群举例：100 人群可以共享记忆，也可以按 sender 隔离，也可以按 topic 隔离。关键是作用域策略。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讲清楚记忆系统是运行时的一部分，不只是把聊天记录 append 到 prompt。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不要讲成模型列表。要讲成控制面：能力、成本、可靠性如何进入工程策略。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核心工具常驻，隐藏工具按需 Promote，并用 TTL 回收。这是在运行时管理模型可见的行动空间。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强调工具调用不是简单函数调用：要校验、注入上下文、捕获错误、规范化结果，再返回给 LLM。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这页要避免讲成两个名词。共同点是：外部能力接入，但仍通过 runtime 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的平台味最强：它把企业策略、审计、审查、路由、响应改写从核心代码里拿出来。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这页可以举企业安全/合规例子：命中敏感请求，hook 直接 respond 或 inject policy。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steering 不是粗暴 cancel，而是在运行时安全地改变后续计划。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讲主 Agent 拆任务、多个 SubTurn 并行查资料，每个有独立上下文、token、超时，避免污染主会话。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安全不是后期补丁，而是 runtime 设计目标。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按时序讲：Channel 收消息，Bus 标准化，AgentLoop 建 Turn，Session 取上下文，Provider 生成回答，再原路返回。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ReAct 在工程里不是概念图，而是一组可控步骤：调用、执行、返回、二次生成。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场景：用户要 2000 字分析，Agent 派 SubTurn 查资料；用户中途改成 500 字提纲；系统用 steering 改道，复用已经完成的子任务结果。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这里收束工程判断：为什么这些机制同时存在，因为性能、成本、安全三者互相牵制。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给同事可执行路线：先 gateway，再 agent，再 bus/channels，然后 providers/tools，最后 session/hooks/subturn。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这页是阅读路径的补充，把高级机制对应到代码/文档入口。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最后把内容抽象成可复用方法论。不要再介绍新概念。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结束时停在这三句话，然后进入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3000"/>
          </a:blip>
          <a:srcRect l="0" r="0" t="14788" b="0"/>
          <a:stretch>
            <a:fillRect/>
          </a:stretch>
        </p:blipFill>
        <p:spPr>
          <a:xfrm rot="0" flipH="false" flipV="false">
            <a:off x="20" y="1282"/>
            <a:ext cx="12191980" cy="685671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1" type="body" sz="quarter" hasCustomPrompt="true"/>
          </p:nvPr>
        </p:nvSpPr>
        <p:spPr>
          <a:xfrm rot="0" flipH="false" flipV="false">
            <a:off x="647700" y="2628900"/>
            <a:ext cx="7239000" cy="24383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lIns="91440" rIns="91440" tIns="45720" bIns="45720"/>
          <a:lstStyle>
            <a:lvl1pPr algn="l">
              <a:lnSpc>
                <a:spcPct val="100000"/>
              </a:lnSpc>
              <a:defRPr sz="4400" b="true" i="false" u="none" strike="noStrike" spc="300">
                <a:solidFill>
                  <a:srgbClr val="00633B">
                    <a:alpha val="100000"/>
                  </a:srgbClr>
                </a:solidFill>
                <a:latin typeface="TWKEverett-Extrabold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400" spc="300">
                <a:solidFill>
                  <a:srgbClr val="00633B"/>
                </a:solidFill>
                <a:latin typeface="TWKEverett-Extrabold"/>
                <a:ea typeface="TWKEverett-Extrabold"/>
                <a:cs typeface="TWKEverett-Extrabold"/>
                <a:sym typeface="TWKEverett-Extrabold"/>
              </a:rPr>
              <a:t>CLICK TO EDIT MASTER TITLE STYLE</a:t>
            </a:r>
          </a:p>
        </p:txBody>
      </p:sp>
      <p:sp>
        <p:nvSpPr>
          <p:cNvPr name="AutoShape 4" id="4"/>
          <p:cNvSpPr/>
          <p:nvPr>
            <p:ph idx="2" type="body" sz="quarter" hasCustomPrompt="true"/>
          </p:nvPr>
        </p:nvSpPr>
        <p:spPr>
          <a:xfrm rot="0" flipH="false" flipV="false">
            <a:off x="647700" y="5067203"/>
            <a:ext cx="8153400" cy="3868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91440" rIns="91440" tIns="45720" bIns="45720"/>
          <a:lstStyle>
            <a:lvl1pPr algn="l">
              <a:lnSpc>
                <a:spcPct val="133333"/>
              </a:lnSpc>
              <a:defRPr sz="2400" b="false" i="false" u="none" strike="noStrike" spc="100">
                <a:solidFill>
                  <a:srgbClr val="404040">
                    <a:alpha val="100000"/>
                  </a:srgbClr>
                </a:solidFill>
                <a:latin typeface="TWKEverett-Medium"/>
              </a:defRPr>
            </a:lvl1pPr>
          </a:lstStyle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2400" spc="150">
                <a:solidFill>
                  <a:srgbClr val="404040"/>
                </a:solidFill>
                <a:latin typeface="TWKEverett-Medium"/>
                <a:ea typeface="TWKEverett-Medium"/>
                <a:cs typeface="TWKEverett-Medium"/>
                <a:sym typeface="TWKEverett-Medium"/>
              </a:rPr>
              <a:t>Mike, PHD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47700" y="1748790"/>
            <a:ext cx="6170295" cy="4692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" type="body" sz="quarter" hasCustomPrompt="true"/>
          </p:nvPr>
        </p:nvSpPr>
        <p:spPr>
          <a:xfrm rot="0" flipH="false" flipV="false"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lIns="90000" rIns="90000" tIns="46800" bIns="46800"/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苹方-简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苹方-简"/>
                <a:ea typeface="苹方-简"/>
                <a:cs typeface="苹方-简"/>
                <a:sym typeface="苹方-简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4" type="body" sz="quarter" hasCustomPrompt="true"/>
          </p:nvPr>
        </p:nvSpPr>
        <p:spPr>
          <a:xfrm rot="0" flipH="false" flipV="false"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lIns="90000" rIns="90000" tIns="46800" bIns="46800"/>
          <a:lstStyle>
            <a:lvl1pPr algn="l" marL="228600" indent="-228600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苹方-简"/>
              </a:defRPr>
            </a:lvl1pPr>
            <a:lvl2pPr marL="660400" indent="-203200"/>
            <a:lvl3pPr marL="1117600" indent="-203200"/>
            <a:lvl4pPr marL="1549400" indent="-177800"/>
            <a:lvl5pPr marL="2006600" indent="-177800"/>
            <a:lvl6pPr marL="2463800" indent="-177800"/>
            <a:lvl7pPr marL="2921000" indent="-177800"/>
            <a:lvl8pPr marL="3378200" indent="-177800"/>
            <a:lvl9pPr marL="3835400" indent="-177800"/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苹方-简"/>
                <a:ea typeface="苹方-简"/>
                <a:cs typeface="苹方-简"/>
                <a:sym typeface="苹方-简"/>
              </a:rPr>
              <a:t>单击此处编辑母版文本样式</a:t>
            </a:r>
          </a:p>
          <a:p>
            <a:pPr algn="l" lvl="1" indent="-203200" marL="660400">
              <a:lnSpc>
                <a:spcPct val="116666"/>
              </a:lnSpc>
              <a:buClr>
                <a:srgbClr val="595959"/>
              </a:buClr>
              <a:buChar char="○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苹方-简"/>
                <a:ea typeface="苹方-简"/>
                <a:cs typeface="苹方-简"/>
                <a:sym typeface="苹方-简"/>
              </a:rPr>
              <a:t>第二级</a:t>
            </a:r>
          </a:p>
          <a:p>
            <a:pPr algn="l" lvl="2" indent="-203200" marL="1117600">
              <a:lnSpc>
                <a:spcPct val="116666"/>
              </a:lnSpc>
              <a:buClr>
                <a:srgbClr val="595959"/>
              </a:buClr>
              <a:buFont typeface="Wingdings"/>
              <a:buChar char="n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苹方-简"/>
                <a:ea typeface="苹方-简"/>
                <a:cs typeface="苹方-简"/>
                <a:sym typeface="苹方-简"/>
              </a:rPr>
              <a:t>第三级</a:t>
            </a:r>
          </a:p>
          <a:p>
            <a:pPr algn="l" lvl="3" indent="-177800" marL="15494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苹方-简"/>
                <a:ea typeface="苹方-简"/>
                <a:cs typeface="苹方-简"/>
                <a:sym typeface="苹方-简"/>
              </a:rPr>
              <a:t>第四级</a:t>
            </a:r>
          </a:p>
          <a:p>
            <a:pPr algn="l" lvl="4" indent="-177800" marL="2006600">
              <a:lnSpc>
                <a:spcPct val="116666"/>
              </a:lnSpc>
              <a:buClr>
                <a:srgbClr val="595959"/>
              </a:buClr>
              <a:buChar char="○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苹方-简"/>
                <a:ea typeface="苹方-简"/>
                <a:cs typeface="苹方-简"/>
                <a:sym typeface="苹方-简"/>
              </a:rPr>
              <a:t>第五级</a:t>
            </a:r>
          </a:p>
        </p:txBody>
      </p:sp>
      <p:sp>
        <p:nvSpPr>
          <p:cNvPr name="AutoShape 4" id="4"/>
          <p:cNvSpPr/>
          <p:nvPr>
            <p:ph idx="5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91440" rIns="91440" tIns="45720" bIns="45720"/>
          <a:lstStyle>
            <a:lvl1pPr algn="l">
              <a:lnSpc>
                <a:spcPct val="1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苹方-简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6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91440" rIns="91440" tIns="45720" bIns="45720"/>
          <a:lstStyle>
            <a:lvl1pPr algn="l">
              <a:lnSpc>
                <a:spcPct val="100000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苹方-简"/>
                <a:ea typeface="苹方-简"/>
                <a:cs typeface="苹方-简"/>
                <a:sym typeface="苹方-简"/>
              </a:rPr>
              <a:t>页脚</a:t>
            </a:r>
          </a:p>
        </p:txBody>
      </p:sp>
      <p:sp>
        <p:nvSpPr>
          <p:cNvPr name="AutoShape 6" id="6"/>
          <p:cNvSpPr/>
          <p:nvPr>
            <p:ph idx="7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91440" rIns="91440" tIns="45720" bIns="45720"/>
          <a:lstStyle>
            <a:lvl1pPr algn="l">
              <a:lnSpc>
                <a:spcPct val="1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苹方-简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" id="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03225" y="332740"/>
            <a:ext cx="3179445" cy="2419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3"/>
    <p:sldLayoutId id="215748370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01" r:id="rId2"/>
    <p:sldLayoutId id="215748370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6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8000">
              <a:srgbClr val="000000">
                <a:alpha val="100000"/>
              </a:srgbClr>
            </a:gs>
            <a:gs pos="54000">
              <a:srgbClr val="00643C">
                <a:alpha val="100000"/>
              </a:srgbClr>
            </a:gs>
            <a:gs pos="87000">
              <a:srgbClr val="008D55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502920"/>
            <a:ext cx="2926080" cy="2226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874519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400" b="1">
                <a:solidFill>
                  <a:srgbClr val="FFFFFF"/>
                </a:solidFill>
                <a:latin typeface="TWK Everett"/>
              </a:rPr>
              <a:t>PicoClaw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87168"/>
            <a:ext cx="6217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FFFFFF"/>
                </a:solidFill>
                <a:latin typeface="TWK Everett"/>
              </a:rPr>
              <a:t>把 AI Agent 放进 10MB RAM 的运行时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772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CFE8DC"/>
                </a:solidFill>
                <a:latin typeface="TWK Everett"/>
              </a:rPr>
              <a:t>从一条消息开始，讲清 Gateway、AgentLoop、Session、Tool、Hook 与 MCP 如何协作。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498848"/>
            <a:ext cx="1115568" cy="640080"/>
          </a:xfrm>
          <a:prstGeom prst="roundRect">
            <a:avLst/>
          </a:prstGeom>
          <a:solidFill>
            <a:srgbClr val="08573D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7863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500" b="1">
                <a:solidFill>
                  <a:srgbClr val="FFFFFF"/>
                </a:solidFill>
                <a:latin typeface="TWK Everett"/>
              </a:rPr>
              <a:t>10MB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64608"/>
            <a:ext cx="786384" cy="228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CFE8DC"/>
                </a:solidFill>
                <a:latin typeface="TWK Everett"/>
              </a:rPr>
              <a:t>目标内存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7128" y="4498848"/>
            <a:ext cx="1115568" cy="640080"/>
          </a:xfrm>
          <a:prstGeom prst="roundRect">
            <a:avLst/>
          </a:prstGeom>
          <a:solidFill>
            <a:srgbClr val="08573D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4590288"/>
            <a:ext cx="7863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500" b="1">
                <a:solidFill>
                  <a:srgbClr val="FFFFFF"/>
                </a:solidFill>
                <a:latin typeface="TWK Everett"/>
              </a:rPr>
              <a:t>$10+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864608"/>
            <a:ext cx="786384" cy="228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CFE8DC"/>
                </a:solidFill>
                <a:latin typeface="TWK Everett"/>
              </a:rPr>
              <a:t>低成本设备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4498848"/>
            <a:ext cx="1115568" cy="640080"/>
          </a:xfrm>
          <a:prstGeom prst="roundRect">
            <a:avLst/>
          </a:prstGeom>
          <a:solidFill>
            <a:srgbClr val="08573D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4590288"/>
            <a:ext cx="7863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500" b="1">
                <a:solidFill>
                  <a:srgbClr val="FFFFFF"/>
                </a:solidFill>
                <a:latin typeface="TWK Everett"/>
              </a:rPr>
              <a:t>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864608"/>
            <a:ext cx="786384" cy="228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CFE8DC"/>
                </a:solidFill>
                <a:latin typeface="TWK Everett"/>
              </a:rPr>
              <a:t>单二进制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236208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800" b="0">
                <a:solidFill>
                  <a:srgbClr val="CFE8DC"/>
                </a:solidFill>
                <a:latin typeface="TWK Everett"/>
              </a:rPr>
              <a:t>Sipeed Open-Source ·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问题钩子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一台 $10 开发板，为什么需要 Agent 平台？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低资源不是少做功能，而是必须把复杂度关进清楚的运行时边界。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0280"/>
            <a:ext cx="3154680" cy="196596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资源约束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旧手机、RISC-V、KVM、边缘盒子：启动慢和内存大都会失败。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入口约束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用户可能来自 Telegram、Discord、QQ、WeChat、CLI、Web。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94192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增长约束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模型、工具、记忆、Hook、MCP 会不断增加，单体拼接很快失控。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4956048"/>
            <a:ext cx="9235440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5047488"/>
            <a:ext cx="89062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复杂度被放进运行时边界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5321808"/>
            <a:ext cx="890625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资源、入口和能力都会变化；PicoClaw 把变化隔离在可治理的层次里。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r="http://schemas.openxmlformats.org/officeDocument/2006/relationships"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 xmlns:r="http://schemas.openxmlformats.org/officeDocument/2006/relationships"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今天的路线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先跟一条消息走一遍，再拆运行时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不从文件树开始，而从运行路径开始。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0487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1828800" cy="96012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935224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291839"/>
            <a:ext cx="149961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为什么是 Go / 单二进制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090672"/>
            <a:ext cx="256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5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40487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788920"/>
            <a:ext cx="1828800" cy="96012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0672" y="2935224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主链路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291839"/>
            <a:ext cx="149961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消息从 Channel 到 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090672"/>
            <a:ext cx="256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5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240487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2788920"/>
            <a:ext cx="1828800" cy="96012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2935224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3291839"/>
            <a:ext cx="149961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Turn / Session / Tool / Hook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90672"/>
            <a:ext cx="256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5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8" y="240487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788920"/>
            <a:ext cx="1828800" cy="96012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2" y="2935224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案例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2" y="3291839"/>
            <a:ext cx="149961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普通消息、工具调用、打断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090672"/>
            <a:ext cx="256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5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5208" y="240487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2788920"/>
            <a:ext cx="1828800" cy="96012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1512" y="2935224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判断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1512" y="3291839"/>
            <a:ext cx="149961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性能、成本、安全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800600"/>
            <a:ext cx="9692640" cy="676656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07592" y="4892040"/>
            <a:ext cx="93634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PicoClaw 的价值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7592" y="5166360"/>
            <a:ext cx="9363456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功能可以持续增长，但运行时边界必须保持清楚、资源可控、扩展有入口。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约束驱动设计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为什么是 Go：不是偏好，是生存条件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每个技术选择都服务于低资源、快启动、跨架构和消息并发。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46504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50" b="1">
                <a:solidFill>
                  <a:srgbClr val="006B3F"/>
                </a:solidFill>
                <a:latin typeface="TWK Everett"/>
              </a:rPr>
              <a:t>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1746504"/>
            <a:ext cx="3840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50" b="1">
                <a:solidFill>
                  <a:srgbClr val="006B3F"/>
                </a:solidFill>
                <a:latin typeface="TWK Everett"/>
              </a:rPr>
              <a:t>设计选择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74650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50" b="1">
                <a:solidFill>
                  <a:srgbClr val="006B3F"/>
                </a:solidFill>
                <a:latin typeface="TWK Everett"/>
              </a:rPr>
              <a:t>得到的结果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057400"/>
            <a:ext cx="2286000" cy="658368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48840"/>
            <a:ext cx="1956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低内存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5808" y="2057400"/>
            <a:ext cx="3840480" cy="65836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148840"/>
            <a:ext cx="35112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没有 Node/Python 运行时常驻开销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2057400"/>
            <a:ext cx="3657600" cy="65836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148840"/>
            <a:ext cx="33284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&lt;10MB 目标更现实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240280"/>
            <a:ext cx="1645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3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2240280"/>
            <a:ext cx="1645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3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843784"/>
            <a:ext cx="2286000" cy="658368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35224"/>
            <a:ext cx="1956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快启动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5808" y="2843784"/>
            <a:ext cx="3840480" cy="65836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2935224"/>
            <a:ext cx="35112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单二进制 + 无 VM/JIT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2843784"/>
            <a:ext cx="3657600" cy="65836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2935224"/>
            <a:ext cx="33284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低频 CPU 上可秒级启动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026664"/>
            <a:ext cx="1645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3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026664"/>
            <a:ext cx="1645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3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630168"/>
            <a:ext cx="2286000" cy="658368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721607"/>
            <a:ext cx="1956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跨架构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35808" y="3630168"/>
            <a:ext cx="3840480" cy="65836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3721607"/>
            <a:ext cx="35112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Go 交叉编译链路成熟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9168" y="3630168"/>
            <a:ext cx="3657600" cy="65836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721607"/>
            <a:ext cx="33284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RISC-V / ARM / MIPS / x86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3813048"/>
            <a:ext cx="1645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3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3813048"/>
            <a:ext cx="1645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3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416552"/>
            <a:ext cx="2286000" cy="658368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507992"/>
            <a:ext cx="1956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并发模型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35808" y="4416552"/>
            <a:ext cx="3840480" cy="65836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4507992"/>
            <a:ext cx="35112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goroutine + channel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59168" y="4416552"/>
            <a:ext cx="3657600" cy="65836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507992"/>
            <a:ext cx="33284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天然适配消息驱动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8648" y="4599432"/>
            <a:ext cx="1645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3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2008" y="4599432"/>
            <a:ext cx="1645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3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PicoClaw 是平台，不是单体机器人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单体把能力写进应用；平台把能力放进可组合、可替换、可治理的边界。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84831"/>
            <a:ext cx="3154680" cy="24688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8254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单体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587752"/>
            <a:ext cx="2825496" cy="1901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一个入口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一个模型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工具/状态耦合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新增能力改主流程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84831"/>
            <a:ext cx="3154680" cy="24688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231136"/>
            <a:ext cx="28254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轻量 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87752"/>
            <a:ext cx="2825496" cy="1901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资源更小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应用逻辑仍居中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渠道/工具边界有限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084831"/>
            <a:ext cx="3154680" cy="246888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2231136"/>
            <a:ext cx="28254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PicoClaw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2587752"/>
            <a:ext cx="2825496" cy="1901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多入口共享 runtime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Channel / Bus / Agent 解耦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Session / Tool / Hook 可治理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MCP / Skills 外接能力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5074920"/>
            <a:ext cx="10058400" cy="64008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5166359"/>
            <a:ext cx="97292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平台化的本质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5440680"/>
            <a:ext cx="9729216" cy="228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新增渠道、模型和工具时，核心链路不需要被撕开。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入口层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一个二进制，三种使用形态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CLI、Gateway、Web Launcher 是入口差异，不是三套系统。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0280"/>
            <a:ext cx="3154680" cy="196596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CLI 交互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终端、脚本、CI 场景。适合调试和一次性任务。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Gateway 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多渠道机器人、7×24 运行，负责接入外部消息。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94192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Web Launcher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桌面/浏览器控制台，用于配置、启动和会话管理。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4956048"/>
            <a:ext cx="9235440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5047488"/>
            <a:ext cx="89062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运行时边界决定扩展成本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5321808"/>
            <a:ext cx="890625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装配、执行、扩展、安全各自有位置，系统才能持续演进。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全局地图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五层架构：从入口到能力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后面所有机制都可以回到这张图定位。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38528"/>
            <a:ext cx="6766560" cy="53035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29968"/>
            <a:ext cx="6437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1. 入口层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304288"/>
            <a:ext cx="6437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CLI / Web Launcher /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468880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724912"/>
            <a:ext cx="6766560" cy="53035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816352"/>
            <a:ext cx="6437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2. 装配层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090672"/>
            <a:ext cx="6437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Gateway 组装 Bus、Agents、Loop、Channels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3255264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11296"/>
            <a:ext cx="6766560" cy="53035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602736"/>
            <a:ext cx="6437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3. 执行层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877056"/>
            <a:ext cx="6437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AgentLoop / WorkerPool / Turn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4041648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297680"/>
            <a:ext cx="6766560" cy="53035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389120"/>
            <a:ext cx="6437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4. 接入层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663440"/>
            <a:ext cx="6437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MessageBus / ChannelManager / 多平台适配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482803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84064"/>
            <a:ext cx="6766560" cy="53035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175504"/>
            <a:ext cx="6437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5. 能力层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449824"/>
            <a:ext cx="6437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Providers / Tools / Session / Skills / MCP / Hooks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2240280"/>
            <a:ext cx="3063240" cy="74980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2331720"/>
            <a:ext cx="27340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关键枢纽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2606040"/>
            <a:ext cx="2734056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Gateway 负责组装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246120"/>
            <a:ext cx="3063240" cy="74980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3337560"/>
            <a:ext cx="27340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解耦点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611880"/>
            <a:ext cx="2734056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MessageBus 分离 Agent 与 Channel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251960"/>
            <a:ext cx="3063240" cy="74980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4343400"/>
            <a:ext cx="27340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扩展面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617720"/>
            <a:ext cx="2734056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Tool / Hook / MCP 外接能力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主链路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一条消息的旅程：先看系统如何流动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普通消息路径是理解 PicoClaw 的最短路径。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平台消息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04288" y="2852928"/>
            <a:ext cx="1481328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MessageBus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标准化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05656" y="2852928"/>
            <a:ext cx="1481328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AgentLoop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建立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7024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上下文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8392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2984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2984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模型调用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2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Bus / Channel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回复用户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4892040"/>
            <a:ext cx="9966960" cy="64008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4983479"/>
            <a:ext cx="96377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先记住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5257800"/>
            <a:ext cx="9637776" cy="228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PicoClaw 的核心不是“调一次 LLM”，而是在一次 Turn 中治理上下文、工具、渠道和状态。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r="http://schemas.openxmlformats.org/officeDocument/2006/relationships"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 xmlns:r="http://schemas.openxmlformats.org/officeDocument/2006/relationships"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装配层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Gateway：乐高底板，不是上帝对象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Gateway 管生命周期和依赖注入，业务逻辑仍留在各自子系统。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加载配置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04288" y="2852928"/>
            <a:ext cx="1481328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创建总线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05656" y="2852928"/>
            <a:ext cx="1481328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注册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7024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创建执行器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8392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2984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Channels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2984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启动渠道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2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后台服务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r="http://schemas.openxmlformats.org/officeDocument/2006/relationships"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 xmlns:r="http://schemas.openxmlformats.org/officeDocument/2006/relationships"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接入层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MessageBus 与 Channel：多平台统一的关键边界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Channel 负责平台协议，Bus 负责标准消息，Agent 不感知平台差异。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50592"/>
            <a:ext cx="2423160" cy="10515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0939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Channel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53512"/>
            <a:ext cx="2093976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Telegram / Discord / WeChat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只处理平台协议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7063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450592"/>
            <a:ext cx="2423160" cy="105156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1" y="2596896"/>
            <a:ext cx="20939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MessageBus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1" y="2953512"/>
            <a:ext cx="2093976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Inbound / Outbound / Media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统一消息格式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7063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450592"/>
            <a:ext cx="2423160" cy="10515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2" y="2596896"/>
            <a:ext cx="20939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AgentLoop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2953512"/>
            <a:ext cx="2093976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只看标准消息与上下文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不关心平台 SDK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4617720"/>
            <a:ext cx="8366760" cy="82296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73351" y="4764024"/>
            <a:ext cx="80375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平台化的边界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1" y="5120640"/>
            <a:ext cx="80375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新增 Channel 不修改 Agent；新增 Agent 也不理解每个平台的消息细节。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执行层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AgentLoop：AI Agent 的执行引擎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AgentLoop 把消息、上下文、工具调用、模型结果组织成一个可控 Turn。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0280"/>
            <a:ext cx="3154680" cy="196596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Execution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workerSem、session 串行、取消与 steering 信号。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Extensions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hooks、tool runtime、subturn、mcp/skills 接入点。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94192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Dependencies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providers、session manager、message bus、media/tool services。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4956048"/>
            <a:ext cx="9235440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5047488"/>
            <a:ext cx="89062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运行时边界决定扩展成本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5321808"/>
            <a:ext cx="890625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装配、执行、扩展、安全各自有位置，系统才能持续演进。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Turn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Turn 生命周期：从消息到回答的最小闭环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一次 Turn 是 PicoClaw 处理用户输入的基本事务单元。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Inbound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收到消息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04288" y="2852928"/>
            <a:ext cx="1481328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取上下文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05656" y="2852928"/>
            <a:ext cx="1481328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LLM #1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思考/生成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7024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Tool?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可能调用工具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8392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2984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LLM #2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2984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吸收结果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2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Finalize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写回记忆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4864608"/>
            <a:ext cx="9509760" cy="658368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9032" y="4956048"/>
            <a:ext cx="91805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Turn 是最小事务单元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5230368"/>
            <a:ext cx="9180576" cy="246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输入、上下文、模型、工具、最终回答和记忆更新，都在这里被治理。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Session 不是 chat_id，而是作用域决策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同一个平台消息，可能按 chat、sender、topic 等维度切出不同记忆空间。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84831"/>
            <a:ext cx="4892040" cy="109728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223113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26771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1" y="223113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587752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企业/工作区级共享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84831"/>
            <a:ext cx="4892040" cy="10972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0216" y="223113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226771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223113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587752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群聊或频道级上下文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47872"/>
            <a:ext cx="4892040" cy="10972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" y="369417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73075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1" y="369417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topic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050791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Telegram topic / thread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547872"/>
            <a:ext cx="4892040" cy="10972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0216" y="369417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373075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69417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sender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050791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同群不同用户隔离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2212848"/>
            <a:ext cx="9784080" cy="68580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592" y="2304288"/>
            <a:ext cx="94548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500" b="1">
                <a:solidFill>
                  <a:srgbClr val="006B3F"/>
                </a:solidFill>
                <a:latin typeface="TWK Everett"/>
              </a:rPr>
              <a:t>SessionScope = AgentID + Channel + Account + Dimensions + Values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03320"/>
            <a:ext cx="2212848" cy="100584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5256" y="384962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" y="388620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592" y="3849624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workspace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" y="4206240"/>
            <a:ext cx="188366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企业/工作区级共享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20440" y="3703320"/>
            <a:ext cx="2212848" cy="100584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48456" y="384962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48456" y="388620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50791" y="3849624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chat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5032" y="4206240"/>
            <a:ext cx="188366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群聊或频道级上下文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703320"/>
            <a:ext cx="2212848" cy="100584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91655" y="384962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91655" y="388620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3992" y="3849624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topic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28231" y="4206240"/>
            <a:ext cx="188366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Telegram topic / thread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06840" y="3703320"/>
            <a:ext cx="2212848" cy="100584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34856" y="384962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34856" y="388620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37192" y="3849624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sender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71432" y="4206240"/>
            <a:ext cx="188366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同群不同用户隔离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" y="5285232"/>
            <a:ext cx="9692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例：Telegram 群可以按 chat 共享记忆，也可以按 sender 或 topic 隔离。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记忆不只是保存历史，还要能迁移和压缩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长期运行的 Agent 必须控制上下文预算，并保留可恢复的会话状态。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40"/>
            <a:ext cx="1783080" cy="80467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980944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SessionManager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337560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选定作用域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999232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8" y="2834640"/>
            <a:ext cx="1783080" cy="80467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980944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Canonical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37560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稳定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999232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2834640"/>
            <a:ext cx="1783080" cy="80467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2980944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SessionStore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3337560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落盘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99232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87184" y="2834640"/>
            <a:ext cx="1783080" cy="80467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6" y="2980944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SummaryStore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1776" y="3337560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摘要压缩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999232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54312" y="2834640"/>
            <a:ext cx="1783080" cy="80467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18904" y="2980944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Context 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3337560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控制 token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8000">
              <a:srgbClr val="000000">
                <a:alpha val="100000"/>
              </a:srgbClr>
            </a:gs>
            <a:gs pos="54000">
              <a:srgbClr val="00643C">
                <a:alpha val="100000"/>
              </a:srgbClr>
            </a:gs>
            <a:gs pos="87000">
              <a:srgbClr val="008D55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Provider、路由与回退：不是“接很多模型”这么简单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生产环境更关心能力差异、成本控制和失败恢复。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84831"/>
            <a:ext cx="4892040" cy="109728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223113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26771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1" y="223113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LLMProvider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587752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核心接口小：Chat + 默认模型；其他能力用可选接口扩展。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84831"/>
            <a:ext cx="4892040" cy="10972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0216" y="223113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226771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223113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587752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Streaming / Thinking / NativeSearch / Stateful 按能力适配。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47872"/>
            <a:ext cx="4892040" cy="10972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" y="369417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73075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1" y="369417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050791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简单问题走轻量模型，复杂任务走强模型。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547872"/>
            <a:ext cx="4892040" cy="10972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0216" y="369417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373075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69417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Failover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050791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失败分类、冷却追踪、候选 Provider 自动切换。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工具不是越多越好，而是越按需可见越好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工具可见性直接影响 token 成本和模型选择准确率。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14600"/>
            <a:ext cx="2240280" cy="91440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60904"/>
            <a:ext cx="19110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所有工具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17520"/>
            <a:ext cx="19110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默认不可全部暴露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7063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是否核心？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779776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965960"/>
            <a:ext cx="2697480" cy="86868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1" y="2112264"/>
            <a:ext cx="23682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Core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468880"/>
            <a:ext cx="2368296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始终可见：如基础文件/消息能力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200400"/>
            <a:ext cx="2697480" cy="8686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3346704"/>
            <a:ext cx="23682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Hidden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3703320"/>
            <a:ext cx="2368296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满足条件后 Promote，并设置 TTL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2779776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2514600"/>
            <a:ext cx="2331720" cy="91440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8392" y="2660904"/>
            <a:ext cx="2002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LLM 可见工具集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3017520"/>
            <a:ext cx="200253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更少 token，更高选择准确率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19" y="4892040"/>
            <a:ext cx="8046720" cy="62179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39112" y="4983479"/>
            <a:ext cx="7717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运行时收益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257800"/>
            <a:ext cx="771753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不是让模型看见所有按钮，而是在正确时间给它正确按钮。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Tool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一次工具调用经历了什么？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Tool Runtime 把模型意图转换成可控、可恢复、可审计的工程动作。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Tool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模型请求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04288" y="2852928"/>
            <a:ext cx="1481328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参数校验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05656" y="2852928"/>
            <a:ext cx="1481328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注入上下文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7024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执行工具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8392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2984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Recover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2984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异常恢复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2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Normalize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结果回写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生态扩展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Skills 与 MCP：把外部能力接进运行时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Skills 让本地能力可被选择；MCP 让外部工具服务器接入统一运行时。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84831"/>
            <a:ext cx="3154680" cy="24688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8254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587752"/>
            <a:ext cx="2825496" cy="1901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本地 SKILL.md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说明何时使用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按需进入 prompt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适合封装工作流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84831"/>
            <a:ext cx="3154680" cy="24688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231136"/>
            <a:ext cx="28254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MCP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87752"/>
            <a:ext cx="2825496" cy="1901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外部 server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工具列表动态发现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统一 tool schema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适合接企业系统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084831"/>
            <a:ext cx="3154680" cy="246888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2231136"/>
            <a:ext cx="28254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共同点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2587752"/>
            <a:ext cx="2825496" cy="1901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都不是把能力硬编码进 Agent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都服务于运行时能力挂载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都需要可见性治理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Hook 让 PicoClaw 从应用变成平台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外部逻辑可以观察、拦截、改写运行过程，而不是只能在主代码里加 if。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19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478024"/>
            <a:ext cx="3730752" cy="758952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40680" y="2066543"/>
            <a:ext cx="118872" cy="1170433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559552" y="2478024"/>
            <a:ext cx="3355848" cy="758952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5559552" y="3236976"/>
            <a:ext cx="3264408" cy="1298448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257800" y="3236976"/>
            <a:ext cx="301752" cy="1709927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920240" y="3236976"/>
            <a:ext cx="3639312" cy="1298448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34840" y="2770632"/>
            <a:ext cx="2240280" cy="932688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2916936"/>
            <a:ext cx="19110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Agent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3273552"/>
            <a:ext cx="191109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Pipeline / Turn / ToolLoop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194560"/>
            <a:ext cx="1828800" cy="56692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2286000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Inbound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560320"/>
            <a:ext cx="14996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拦截 / 观察 / 改写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1783080"/>
            <a:ext cx="1828800" cy="56692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1874519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2148840"/>
            <a:ext cx="14996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拦截 / 观察 / 改写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2194560"/>
            <a:ext cx="1828800" cy="56692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2286000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2560320"/>
            <a:ext cx="14996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拦截 / 观察 / 改写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4251960"/>
            <a:ext cx="1828800" cy="56692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4152" y="4343400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Outbound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4617720"/>
            <a:ext cx="14996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拦截 / 观察 / 改写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663440"/>
            <a:ext cx="1828800" cy="56692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4754879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Audit/Policy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5029200"/>
            <a:ext cx="14996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拦截 / 观察 / 改写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4251960"/>
            <a:ext cx="1828800" cy="56692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4343400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Media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4617720"/>
            <a:ext cx="14996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拦截 / 观察 / 改写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504688"/>
            <a:ext cx="7863840" cy="566928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93392" y="5596127"/>
            <a:ext cx="75346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平台化含义：策略、审计、响应改写可以外挂，不必侵入 Agent 主流程。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r="http://schemas.openxmlformats.org/officeDocument/2006/relationships"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 xmlns:r="http://schemas.openxmlformats.org/officeDocument/2006/relationships"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Hook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最有平台味的动作：respond、skip、inject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Hook 不只是通知，它可以改变后续执行路径。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0280"/>
            <a:ext cx="3154680" cy="196596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respond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直接生成或改写响应，适合规则命中、审计拦截、FAQ 快速回答。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skip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跳过某个后续阶段，例如无需继续调用模型或工具。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94192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inject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把外部进程返回的信息注入上下文，影响后续推理。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4956048"/>
            <a:ext cx="9235440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5047488"/>
            <a:ext cx="89062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运行时边界决定扩展成本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5321808"/>
            <a:ext cx="890625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装配、执行、扩展、安全各自有位置，系统才能持续演进。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Steering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长任务中途改需求，系统如何有序改道？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真实 Agent 任务不是一次性命令，用户会在运行中追加或改变要求。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追加要求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04288" y="2852928"/>
            <a:ext cx="1481328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进入 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05656" y="2852928"/>
            <a:ext cx="1481328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Poll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运行时检查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7024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skip/inject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8392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2984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2984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重新规划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01752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852928"/>
            <a:ext cx="1481328" cy="71323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2" y="2944368"/>
            <a:ext cx="1152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Reply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3218688"/>
            <a:ext cx="11521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更新输出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SubTurn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主 Agent 如何派出子任务而不污染主会话？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SubTurn 让子任务隔离执行，再把结果回到主 Agent。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2194560" cy="658368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057400"/>
            <a:ext cx="1865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主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331720"/>
            <a:ext cx="1865376" cy="246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拆分任务 / 汇总结果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703320"/>
            <a:ext cx="2331720" cy="8686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49624"/>
            <a:ext cx="2002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SubTurn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06240"/>
            <a:ext cx="2002536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查资料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852928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703320"/>
            <a:ext cx="2331720" cy="8686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1" y="3849624"/>
            <a:ext cx="2002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SubTurn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4206240"/>
            <a:ext cx="2002536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跑工具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852928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703320"/>
            <a:ext cx="2331720" cy="8686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3849624"/>
            <a:ext cx="2002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SubTurn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206240"/>
            <a:ext cx="2002536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检查结果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852928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828032"/>
            <a:ext cx="38404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333"/>
              </a:lnSpc>
              <a:spcAft>
                <a:spcPts val="400"/>
              </a:spcAft>
            </a:pPr>
            <a:r>
              <a:rPr sz="950" b="1">
                <a:solidFill>
                  <a:srgbClr val="006B3F"/>
                </a:solidFill>
              </a:rPr>
              <a:t>● </a:t>
            </a:r>
            <a:r>
              <a:rPr sz="950">
                <a:solidFill>
                  <a:srgbClr val="172523"/>
                </a:solidFill>
                <a:latin typeface="TWK Everett"/>
              </a:rPr>
              <a:t>独立上下文</a:t>
            </a:r>
          </a:p>
          <a:p>
            <a:pPr>
              <a:lnSpc>
                <a:spcPct val="108333"/>
              </a:lnSpc>
              <a:spcAft>
                <a:spcPts val="400"/>
              </a:spcAft>
            </a:pPr>
            <a:r>
              <a:rPr sz="950" b="1">
                <a:solidFill>
                  <a:srgbClr val="006B3F"/>
                </a:solidFill>
              </a:rPr>
              <a:t>● </a:t>
            </a:r>
            <a:r>
              <a:rPr sz="950">
                <a:solidFill>
                  <a:srgbClr val="172523"/>
                </a:solidFill>
                <a:latin typeface="TWK Everett"/>
              </a:rPr>
              <a:t>独立 token 与超时</a:t>
            </a:r>
          </a:p>
          <a:p>
            <a:pPr>
              <a:lnSpc>
                <a:spcPct val="108333"/>
              </a:lnSpc>
              <a:spcAft>
                <a:spcPts val="400"/>
              </a:spcAft>
            </a:pPr>
            <a:r>
              <a:rPr sz="950" b="1">
                <a:solidFill>
                  <a:srgbClr val="006B3F"/>
                </a:solidFill>
              </a:rPr>
              <a:t>● </a:t>
            </a:r>
            <a:r>
              <a:rPr sz="950">
                <a:solidFill>
                  <a:srgbClr val="172523"/>
                </a:solidFill>
                <a:latin typeface="TWK Everett"/>
              </a:rPr>
              <a:t>结果回到主 Agent，而不是污染主会话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安全边界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低资源不等于低安全：边界必须前置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工具、文件、进程和外部系统接入都需要运行时约束。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0280"/>
            <a:ext cx="3154680" cy="196596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文件边界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工作区路径、读写范围、临时目录需要明确。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工具边界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schema 校验、可见性控制、错误恢复、结果归一化。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94192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进程边界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Hook/MCP 外部进程通过协议接入，不直接侵入主循环。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4956048"/>
            <a:ext cx="9235440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5047488"/>
            <a:ext cx="89062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运行时边界决定扩展成本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5321808"/>
            <a:ext cx="890625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装配、执行、扩展、安全各自有位置，系统才能持续演进。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案例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普通消息：最短路径先跑通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用最简单的场景验证主链路。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1143000" cy="43891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331720"/>
            <a:ext cx="813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User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98448" y="2752344"/>
            <a:ext cx="0" cy="2322576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23160" y="2240280"/>
            <a:ext cx="1143000" cy="43891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2331720"/>
            <a:ext cx="813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Channel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0088" y="2752344"/>
            <a:ext cx="0" cy="2322576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0" y="2240280"/>
            <a:ext cx="1143000" cy="43891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2331720"/>
            <a:ext cx="813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Bus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81728" y="2752344"/>
            <a:ext cx="0" cy="2322576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806440" y="2240280"/>
            <a:ext cx="1143000" cy="43891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1032" y="2331720"/>
            <a:ext cx="813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AgentLoop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73368" y="2752344"/>
            <a:ext cx="0" cy="2322576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80" y="2240280"/>
            <a:ext cx="1143000" cy="43891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2" y="2331720"/>
            <a:ext cx="813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Session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65008" y="2752344"/>
            <a:ext cx="0" cy="2322576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89720" y="2240280"/>
            <a:ext cx="1143000" cy="43891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2331720"/>
            <a:ext cx="813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Provider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56648" y="2752344"/>
            <a:ext cx="0" cy="2322576"/>
          </a:xfrm>
          <a:prstGeom prst="line">
            <a:avLst/>
          </a:prstGeom>
          <a:ln w="1016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98448" y="2880360"/>
            <a:ext cx="1691640" cy="0"/>
          </a:xfrm>
          <a:prstGeom prst="line">
            <a:avLst/>
          </a:prstGeom>
          <a:ln w="1397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89888" y="2715768"/>
            <a:ext cx="1508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780" b="1">
                <a:solidFill>
                  <a:srgbClr val="006B3F"/>
                </a:solidFill>
                <a:latin typeface="TWK Everett"/>
              </a:rPr>
              <a:t>消息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990088" y="3191256"/>
            <a:ext cx="1691640" cy="0"/>
          </a:xfrm>
          <a:prstGeom prst="line">
            <a:avLst/>
          </a:prstGeom>
          <a:ln w="1397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81528" y="3026663"/>
            <a:ext cx="1508759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780" b="1">
                <a:solidFill>
                  <a:srgbClr val="006B3F"/>
                </a:solidFill>
                <a:latin typeface="TWK Everett"/>
              </a:rPr>
              <a:t>标准化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81728" y="3502151"/>
            <a:ext cx="1691640" cy="0"/>
          </a:xfrm>
          <a:prstGeom prst="line">
            <a:avLst/>
          </a:prstGeom>
          <a:ln w="1397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73168" y="3337559"/>
            <a:ext cx="1508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780" b="1">
                <a:solidFill>
                  <a:srgbClr val="006B3F"/>
                </a:solidFill>
                <a:latin typeface="TWK Everett"/>
              </a:rPr>
              <a:t>建立 Turn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73368" y="3813048"/>
            <a:ext cx="1691640" cy="0"/>
          </a:xfrm>
          <a:prstGeom prst="line">
            <a:avLst/>
          </a:prstGeom>
          <a:ln w="1397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64808" y="3648456"/>
            <a:ext cx="1508759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780" b="1">
                <a:solidFill>
                  <a:srgbClr val="006B3F"/>
                </a:solidFill>
                <a:latin typeface="TWK Everett"/>
              </a:rPr>
              <a:t>取上下文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65008" y="4123944"/>
            <a:ext cx="1691640" cy="0"/>
          </a:xfrm>
          <a:prstGeom prst="line">
            <a:avLst/>
          </a:prstGeom>
          <a:ln w="1397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56448" y="3959352"/>
            <a:ext cx="1508759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780" b="1">
                <a:solidFill>
                  <a:srgbClr val="006B3F"/>
                </a:solidFill>
                <a:latin typeface="TWK Everett"/>
              </a:rPr>
              <a:t>调用模型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681728" y="4434840"/>
            <a:ext cx="5074920" cy="0"/>
          </a:xfrm>
          <a:prstGeom prst="line">
            <a:avLst/>
          </a:prstGeom>
          <a:ln w="1397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773168" y="4270248"/>
            <a:ext cx="4892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780" b="1">
                <a:solidFill>
                  <a:srgbClr val="006B3F"/>
                </a:solidFill>
                <a:latin typeface="TWK Everett"/>
              </a:rPr>
              <a:t>回答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1298448" y="4745736"/>
            <a:ext cx="3383280" cy="0"/>
          </a:xfrm>
          <a:prstGeom prst="line">
            <a:avLst/>
          </a:prstGeom>
          <a:ln w="13970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89888" y="4581144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780" b="1">
                <a:solidFill>
                  <a:srgbClr val="006B3F"/>
                </a:solidFill>
                <a:latin typeface="TWK Everett"/>
              </a:rPr>
              <a:t>返回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案例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工具调用：ReAct 循环如何落地？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模型先提出行动，运行时执行工具，再把结果交还给模型生成最终回答。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40"/>
            <a:ext cx="1783080" cy="80467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980944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337560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提出任务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999232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8" y="2834640"/>
            <a:ext cx="1783080" cy="80467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980944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LLM 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37560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选择工具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999232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2834640"/>
            <a:ext cx="1783080" cy="80467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2980944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ToolRuntime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3337560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99232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87184" y="2834640"/>
            <a:ext cx="1783080" cy="80467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6" y="2980944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ToolResult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1776" y="3337560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写上下文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999232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54312" y="2834640"/>
            <a:ext cx="1783080" cy="80467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18904" y="2980944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LLM #2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3337560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最终回答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案例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用户中途打断：Steering + SubTurn 如何一起工作？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长任务中，用户改需求，系统保留已完成结果并重新规划。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14600"/>
            <a:ext cx="2103120" cy="77724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06040"/>
            <a:ext cx="17739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80360"/>
            <a:ext cx="1773936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写 2000 字分析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70632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514600"/>
            <a:ext cx="2194560" cy="77724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606040"/>
            <a:ext cx="1865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主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880360"/>
            <a:ext cx="1865376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拆任务 / 派子任务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3957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011680"/>
            <a:ext cx="2286000" cy="6400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2103120"/>
            <a:ext cx="1956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SubTurn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377440"/>
            <a:ext cx="1956816" cy="228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并行查资料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1868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600" b="1">
                <a:solidFill>
                  <a:srgbClr val="006B3F"/>
                </a:solidFill>
                <a:latin typeface="TWK Everett"/>
              </a:rPr>
              <a:t>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29000"/>
            <a:ext cx="2286000" cy="64008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3520440"/>
            <a:ext cx="1956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Steering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3794760"/>
            <a:ext cx="1956816" cy="228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000" b="0">
                <a:solidFill>
                  <a:srgbClr val="172523"/>
                </a:solidFill>
                <a:latin typeface="TWK Everett"/>
              </a:rPr>
              <a:t>用户将长文改为提纲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770632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514600"/>
            <a:ext cx="2286000" cy="77724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2606040"/>
            <a:ext cx="19568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重新规划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880360"/>
            <a:ext cx="1956816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复用已完成结果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0" y="4983480"/>
            <a:ext cx="9052560" cy="658368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7632" y="5074920"/>
            <a:ext cx="872337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中途改需求不是重启任务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5349240"/>
            <a:ext cx="8723376" cy="246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运行时保留已完成结果，并带着现有状态有序改道。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工程判断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三个架构权衡：性能、成本、安全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好的 Agent Runtime 不是功能最多，而是取舍可解释。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0280"/>
            <a:ext cx="3154680" cy="196596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性能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Go 单二进制、workerSem、session 串行，保证低资源可运行。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工具可见性、Provider 路由、摘要压缩，控制 token 与模型成本。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2240280"/>
            <a:ext cx="3154680" cy="196596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94192" y="2386584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423160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386584"/>
            <a:ext cx="2496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743200"/>
            <a:ext cx="2825496" cy="1399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Hook、Tool Runtime、文件/进程边界，把风险关进运行时。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4956048"/>
            <a:ext cx="9235440" cy="71323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5047488"/>
            <a:ext cx="89062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运行时边界决定扩展成本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5321808"/>
            <a:ext cx="890625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装配、执行、扩展、安全各自有位置，系统才能持续演进。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源码阅读路径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如果现在开始读源码，应该从哪几层下手？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先跑通主链路，再读扩展机制，不要一上来钻局部细节。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228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1783080" cy="804672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33472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pkg/gateway/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0088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装配入口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761488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176272"/>
            <a:ext cx="228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2487168"/>
            <a:ext cx="1783080" cy="80467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26664" y="2633472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pkg/agent/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2990088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Turn / AgentLoop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2761488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2176272"/>
            <a:ext cx="228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8344" y="2487168"/>
            <a:ext cx="1783080" cy="80467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2633472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pkg/bus/ + channels/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990088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消息和渠道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5" y="2761488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5" y="2176272"/>
            <a:ext cx="228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14616" y="2487168"/>
            <a:ext cx="1783080" cy="80467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208" y="2633472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pkg/providers/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208" y="2990088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模型与回退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2761488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176272"/>
            <a:ext cx="228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90888" y="2487168"/>
            <a:ext cx="1783080" cy="804672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80" y="2633472"/>
            <a:ext cx="145389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pkg/tools/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2990088"/>
            <a:ext cx="145389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工具运行时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00200" y="4315968"/>
            <a:ext cx="2377440" cy="74980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64792" y="4407407"/>
            <a:ext cx="20482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pkg/session/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4681728"/>
            <a:ext cx="2048256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会话/记忆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7720" y="4315968"/>
            <a:ext cx="2377440" cy="74980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82312" y="4407407"/>
            <a:ext cx="20482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docs/architecture/hooks/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82312" y="4681728"/>
            <a:ext cx="2048256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Hook 协议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4315968"/>
            <a:ext cx="2377440" cy="749808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99831" y="4407407"/>
            <a:ext cx="20482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docs/architecture/subturn.md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9831" y="4681728"/>
            <a:ext cx="2048256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0">
                <a:solidFill>
                  <a:srgbClr val="172523"/>
                </a:solidFill>
                <a:latin typeface="TWK Everett"/>
              </a:rPr>
              <a:t>子任务边界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57400" y="5440680"/>
            <a:ext cx="8046720" cy="676656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21992" y="5532120"/>
            <a:ext cx="7717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1">
                <a:solidFill>
                  <a:srgbClr val="006B3F"/>
                </a:solidFill>
                <a:latin typeface="TWK Everett"/>
              </a:rPr>
              <a:t>源码阅读顺序：先主链路，再扩展机制。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源码地图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核心机制与代码目录如何对应？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听完架构后，源码不再是文件树，而是运行时边界的实现。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84831"/>
            <a:ext cx="4892040" cy="109728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223113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26771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1" y="223113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Session /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587752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pkg/session/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作用域、存储、摘要压缩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84831"/>
            <a:ext cx="4892040" cy="10972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0216" y="223113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226771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223113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587752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docs/architecture/hooks/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拦截点、动作、进程协议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47872"/>
            <a:ext cx="4892040" cy="10972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" y="369417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73075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1" y="369417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SubTurn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050791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docs/architecture/subturn.md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子任务隔离和并发边界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547872"/>
            <a:ext cx="4892040" cy="109728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0216" y="3694176"/>
            <a:ext cx="292608" cy="29260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3730752"/>
            <a:ext cx="292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333"/>
              </a:lnSpc>
            </a:pPr>
            <a:r>
              <a:rPr sz="800" b="1">
                <a:solidFill>
                  <a:srgbClr val="FFFFFF"/>
                </a:solidFill>
                <a:latin typeface="TWK Everet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694176"/>
            <a:ext cx="4233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800" b="1">
                <a:solidFill>
                  <a:srgbClr val="006B3F"/>
                </a:solidFill>
                <a:latin typeface="TWK Everett"/>
              </a:rPr>
              <a:t>MCP /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050791"/>
            <a:ext cx="4562855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pkg/mcp/ + skills</a:t>
            </a:r>
          </a:p>
          <a:p>
            <a:pPr algn="l">
              <a:lnSpc>
                <a:spcPct val="108333"/>
              </a:lnSpc>
            </a:pPr>
            <a:r>
              <a:rPr sz="1400" b="0">
                <a:solidFill>
                  <a:srgbClr val="172523"/>
                </a:solidFill>
                <a:latin typeface="TWK Everett"/>
              </a:rPr>
              <a:t>外部能力发现与挂载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0"/>
            <a:ext cx="8686800" cy="57332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737360" cy="1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56692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00" b="1">
                <a:solidFill>
                  <a:srgbClr val="006B3F"/>
                </a:solidFill>
                <a:latin typeface="TWK Everett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11155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3200" b="1">
                <a:solidFill>
                  <a:srgbClr val="006B3F"/>
                </a:solidFill>
                <a:latin typeface="TWK Everett"/>
              </a:rPr>
              <a:t>从 PicoClaw 带走的 5 个架构启发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400" b="0">
                <a:solidFill>
                  <a:srgbClr val="586666"/>
                </a:solidFill>
                <a:latin typeface="TWK Everett"/>
              </a:rPr>
              <a:t>这些启发可以迁移到任何 Agent Runtime 或多渠道 AI 系统。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10528"/>
            <a:ext cx="1828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750" b="0">
                <a:solidFill>
                  <a:srgbClr val="586666"/>
                </a:solidFill>
                <a:latin typeface="TWK Everett"/>
              </a:rPr>
              <a:t>PicoClaw 深度讲解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586666"/>
                </a:solidFill>
                <a:latin typeface="TWK Everett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57400"/>
            <a:ext cx="4617720" cy="68580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48840"/>
            <a:ext cx="4288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1. 从一条消息路径开始建模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057400"/>
            <a:ext cx="4617720" cy="68580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2148840"/>
            <a:ext cx="4288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2. 把能力挂到边界，不要塞进主流程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63240"/>
            <a:ext cx="4617720" cy="68580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54680"/>
            <a:ext cx="4288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3. Hook 是平台化的分水岭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063240"/>
            <a:ext cx="4617720" cy="685800"/>
          </a:xfrm>
          <a:prstGeom prst="roundRect">
            <a:avLst/>
          </a:prstGeom>
          <a:solidFill>
            <a:srgbClr val="F3FAF6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3154680"/>
            <a:ext cx="4288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4. 低资源会倒逼更清楚的工程边界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069080"/>
            <a:ext cx="9692640" cy="685800"/>
          </a:xfrm>
          <a:prstGeom prst="roundRect">
            <a:avLst/>
          </a:prstGeom>
          <a:solidFill>
            <a:srgbClr val="EAF5F0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160520"/>
            <a:ext cx="93634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006B3F"/>
                </a:solidFill>
                <a:latin typeface="TWK Everett"/>
              </a:rPr>
              <a:t>5. 多 Agent 协作必须隔离上下文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103120" cy="1600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868680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900" b="1">
                <a:solidFill>
                  <a:srgbClr val="CFE8DC"/>
                </a:solidFill>
                <a:latin typeface="TWK Everett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2600" b="1">
                <a:solidFill>
                  <a:srgbClr val="FFFFFF"/>
                </a:solidFill>
                <a:latin typeface="TWK Everett"/>
              </a:rPr>
              <a:t>PicoClaw 证明了什么？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901952"/>
            <a:ext cx="76809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120" b="0">
                <a:solidFill>
                  <a:srgbClr val="CFE8DC"/>
                </a:solidFill>
                <a:latin typeface="TWK Everett"/>
              </a:rPr>
              <a:t>低资源设备也可以拥有平台化 Agent 能力，关键在于运行时边界和复杂度治理。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816352"/>
            <a:ext cx="8503920" cy="384048"/>
          </a:xfrm>
          <a:prstGeom prst="roundRect">
            <a:avLst/>
          </a:prstGeom>
          <a:solidFill>
            <a:srgbClr val="08573D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907792"/>
            <a:ext cx="81747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FFFFFF"/>
                </a:solidFill>
                <a:latin typeface="TWK Everett"/>
              </a:rPr>
              <a:t>1. 平台化不是功能堆叠，而是可替换、可组合、可治理的边界。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383280"/>
            <a:ext cx="8503920" cy="384048"/>
          </a:xfrm>
          <a:prstGeom prst="roundRect">
            <a:avLst/>
          </a:prstGeom>
          <a:solidFill>
            <a:srgbClr val="08573D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3474720"/>
            <a:ext cx="81747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FFFFFF"/>
                </a:solidFill>
                <a:latin typeface="TWK Everett"/>
              </a:rPr>
              <a:t>2. Agent Runtime 的核心不是一次 LLM 调用，而是 Turn 中对上下文、工具、渠道和状态的治理。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950208"/>
            <a:ext cx="8503920" cy="384048"/>
          </a:xfrm>
          <a:prstGeom prst="roundRect">
            <a:avLst/>
          </a:prstGeom>
          <a:solidFill>
            <a:srgbClr val="08573D"/>
          </a:solidFill>
          <a:ln w="1524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4041648"/>
            <a:ext cx="81747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200" b="1">
                <a:solidFill>
                  <a:srgbClr val="FFFFFF"/>
                </a:solidFill>
                <a:latin typeface="TWK Everett"/>
              </a:rPr>
              <a:t>3. PicoClaw 的价值：把复杂能力压进一个低资源、可裁剪、可扩展的运行时。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85232"/>
            <a:ext cx="1828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333"/>
              </a:lnSpc>
            </a:pPr>
            <a:r>
              <a:rPr sz="1700" b="1">
                <a:solidFill>
                  <a:srgbClr val="FFFFFF"/>
                </a:solidFill>
                <a:latin typeface="TWK Everett"/>
              </a:rPr>
              <a:t>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333"/>
              </a:lnSpc>
            </a:pPr>
            <a:r>
              <a:rPr sz="800" b="1">
                <a:solidFill>
                  <a:srgbClr val="CFE8DC"/>
                </a:solidFill>
                <a:latin typeface="TWK Everett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